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db7cbe119d47c5" /><Relationship Type="http://schemas.openxmlformats.org/officeDocument/2006/relationships/extended-properties" Target="/docProps/app.xml" Id="R4714f089030b4a58" /><Relationship Type="http://schemas.openxmlformats.org/officeDocument/2006/relationships/officeDocument" Target="/ppt/presentation.xml" Id="R646259a12a514e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e2bdd7be5d4e27"/>
  </p:sldMasterIdLst>
  <p:notesMasterIdLst>
    <p:notesMasterId xmlns:r="http://schemas.openxmlformats.org/officeDocument/2006/relationships" r:id="Rb1224b51405d4e78"/>
  </p:notesMasterIdLst>
  <p:sldIdLst>
    <p:sldId xmlns:r="http://schemas.openxmlformats.org/officeDocument/2006/relationships" id="256" r:id="R6cc873e7b62642ee"/>
    <p:sldId xmlns:r="http://schemas.openxmlformats.org/officeDocument/2006/relationships" id="257" r:id="R23a3a35ba6f44fe3"/>
    <p:sldId xmlns:r="http://schemas.openxmlformats.org/officeDocument/2006/relationships" id="258" r:id="Rd21136f836fe4d77"/>
    <p:sldId xmlns:r="http://schemas.openxmlformats.org/officeDocument/2006/relationships" id="259" r:id="R3d0d9546503b4f82"/>
    <p:sldId xmlns:r="http://schemas.openxmlformats.org/officeDocument/2006/relationships" id="260" r:id="R69785d4c2b874f79"/>
    <p:sldId xmlns:r="http://schemas.openxmlformats.org/officeDocument/2006/relationships" id="261" r:id="R194c8a467a8240c1"/>
    <p:sldId xmlns:r="http://schemas.openxmlformats.org/officeDocument/2006/relationships" id="262" r:id="R2155a1f169de466c"/>
    <p:sldId xmlns:r="http://schemas.openxmlformats.org/officeDocument/2006/relationships" id="263" r:id="R2c10e72281ee432b"/>
    <p:sldId xmlns:r="http://schemas.openxmlformats.org/officeDocument/2006/relationships" id="264" r:id="R11a6e3a825f149a5"/>
    <p:sldId xmlns:r="http://schemas.openxmlformats.org/officeDocument/2006/relationships" id="265" r:id="R724ba00b77eb47a9"/>
    <p:sldId xmlns:r="http://schemas.openxmlformats.org/officeDocument/2006/relationships" id="266" r:id="Ra21e296067f947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3d27e441d4448d" /><Relationship Type="http://schemas.openxmlformats.org/officeDocument/2006/relationships/slideMaster" Target="/ppt/slideMasters/slideMaster1.xml" Id="R64e2bdd7be5d4e27" /><Relationship Type="http://schemas.openxmlformats.org/officeDocument/2006/relationships/notesMaster" Target="/ppt/notesMasters/notesMaster1.xml" Id="Rb1224b51405d4e78" /><Relationship Type="http://schemas.openxmlformats.org/officeDocument/2006/relationships/presProps" Target="/ppt/presProps.xml" Id="Ra7c7b5b0b815454e" /><Relationship Type="http://schemas.openxmlformats.org/officeDocument/2006/relationships/tableStyles" Target="/ppt/tableStyles.xml" Id="Rc029f6f4c82c4098" /><Relationship Type="http://schemas.openxmlformats.org/officeDocument/2006/relationships/slide" Target="/ppt/slides/slide1.xml" Id="R6cc873e7b62642ee" /><Relationship Type="http://schemas.openxmlformats.org/officeDocument/2006/relationships/slide" Target="/ppt/slides/slide2.xml" Id="R23a3a35ba6f44fe3" /><Relationship Type="http://schemas.openxmlformats.org/officeDocument/2006/relationships/slide" Target="/ppt/slides/slide3.xml" Id="Rd21136f836fe4d77" /><Relationship Type="http://schemas.openxmlformats.org/officeDocument/2006/relationships/slide" Target="/ppt/slides/slide4.xml" Id="R3d0d9546503b4f82" /><Relationship Type="http://schemas.openxmlformats.org/officeDocument/2006/relationships/slide" Target="/ppt/slides/slide5.xml" Id="R69785d4c2b874f79" /><Relationship Type="http://schemas.openxmlformats.org/officeDocument/2006/relationships/slide" Target="/ppt/slides/slide6.xml" Id="R194c8a467a8240c1" /><Relationship Type="http://schemas.openxmlformats.org/officeDocument/2006/relationships/slide" Target="/ppt/slides/slide7.xml" Id="R2155a1f169de466c" /><Relationship Type="http://schemas.openxmlformats.org/officeDocument/2006/relationships/slide" Target="/ppt/slides/slide8.xml" Id="R2c10e72281ee432b" /><Relationship Type="http://schemas.openxmlformats.org/officeDocument/2006/relationships/slide" Target="/ppt/slides/slide9.xml" Id="R11a6e3a825f149a5" /><Relationship Type="http://schemas.openxmlformats.org/officeDocument/2006/relationships/slide" Target="/ppt/slides/slide10.xml" Id="R724ba00b77eb47a9" /><Relationship Type="http://schemas.openxmlformats.org/officeDocument/2006/relationships/slide" Target="/ppt/slides/slide11.xml" Id="Ra21e296067f947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6aab1407de4d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d0a7b8af014f89" /><Relationship Type="http://schemas.openxmlformats.org/officeDocument/2006/relationships/notesMaster" Target="/ppt/notesMasters/notesMaster1.xml" Id="Rcf0b449dfdff4f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8aac025e964907" /><Relationship Type="http://schemas.openxmlformats.org/officeDocument/2006/relationships/notesMaster" Target="/ppt/notesMasters/notesMaster1.xml" Id="R237a9b96fc5446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2c33250aa74793" /><Relationship Type="http://schemas.openxmlformats.org/officeDocument/2006/relationships/notesMaster" Target="/ppt/notesMasters/notesMaster1.xml" Id="Re66745171c8445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eee4c512f3481c" /><Relationship Type="http://schemas.openxmlformats.org/officeDocument/2006/relationships/notesMaster" Target="/ppt/notesMasters/notesMaster1.xml" Id="R200a0244c3664b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f15268bf04ffe" /><Relationship Type="http://schemas.openxmlformats.org/officeDocument/2006/relationships/notesMaster" Target="/ppt/notesMasters/notesMaster1.xml" Id="Rd4b32d464cd64d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2154624dcc4282" /><Relationship Type="http://schemas.openxmlformats.org/officeDocument/2006/relationships/notesMaster" Target="/ppt/notesMasters/notesMaster1.xml" Id="Rcf8a71f9735943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8ed3c7604b43f2" /><Relationship Type="http://schemas.openxmlformats.org/officeDocument/2006/relationships/notesMaster" Target="/ppt/notesMasters/notesMaster1.xml" Id="Rbab7d7fa4fde49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d4f64778af4aef" /><Relationship Type="http://schemas.openxmlformats.org/officeDocument/2006/relationships/notesMaster" Target="/ppt/notesMasters/notesMaster1.xml" Id="Rfb27131eda7a44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7c7813ac084a10" /><Relationship Type="http://schemas.openxmlformats.org/officeDocument/2006/relationships/notesMaster" Target="/ppt/notesMasters/notesMaster1.xml" Id="Rc6984241d9854f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c50aed3faa49ef" /><Relationship Type="http://schemas.openxmlformats.org/officeDocument/2006/relationships/notesMaster" Target="/ppt/notesMasters/notesMaster1.xml" Id="R5c062792bb9242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2bed8b720e44d1" /><Relationship Type="http://schemas.openxmlformats.org/officeDocument/2006/relationships/notesMaster" Target="/ppt/notesMasters/notesMaster1.xml" Id="R42a95657479c40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effb687bd4e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6cfa51abab4c71" /><Relationship Type="http://schemas.openxmlformats.org/officeDocument/2006/relationships/slideLayout" Target="/ppt/slideLayouts/slideLayout1.xml" Id="Ra8c5e15ff25e47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c5e15ff25e47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71bd88cf84034" /><Relationship Type="http://schemas.openxmlformats.org/officeDocument/2006/relationships/notesSlide" Target="/ppt/notesSlides/notesSlide1.xml" Id="R58d80f9dc04a44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d1a4e6e104ea3" /><Relationship Type="http://schemas.openxmlformats.org/officeDocument/2006/relationships/notesSlide" Target="/ppt/notesSlides/notesSlide2.xml" Id="R945f55677e5540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f50f09f4d4be6" /><Relationship Type="http://schemas.openxmlformats.org/officeDocument/2006/relationships/notesSlide" Target="/ppt/notesSlides/notesSlide3.xml" Id="R825775b81c904a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35c77d35e416c" /><Relationship Type="http://schemas.openxmlformats.org/officeDocument/2006/relationships/notesSlide" Target="/ppt/notesSlides/notesSlide4.xml" Id="Re4aad8b2887a4b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ab389de0347d9" /><Relationship Type="http://schemas.openxmlformats.org/officeDocument/2006/relationships/notesSlide" Target="/ppt/notesSlides/notesSlide5.xml" Id="Ra78c3366cc1647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8e74f03a6445e" /><Relationship Type="http://schemas.openxmlformats.org/officeDocument/2006/relationships/notesSlide" Target="/ppt/notesSlides/notesSlide6.xml" Id="R6a396db6a76d42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0c35835e24791" /><Relationship Type="http://schemas.openxmlformats.org/officeDocument/2006/relationships/notesSlide" Target="/ppt/notesSlides/notesSlide7.xml" Id="R62a76f77a38944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974d370364558" /><Relationship Type="http://schemas.openxmlformats.org/officeDocument/2006/relationships/notesSlide" Target="/ppt/notesSlides/notesSlide8.xml" Id="R89215c7deec44e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8258965304f35" /><Relationship Type="http://schemas.openxmlformats.org/officeDocument/2006/relationships/notesSlide" Target="/ppt/notesSlides/notesSlide9.xml" Id="R81593543ca8a48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aac61f6cb48c5" /><Relationship Type="http://schemas.openxmlformats.org/officeDocument/2006/relationships/notesSlide" Target="/ppt/notesSlides/notesSlide10.xml" Id="R4688af609e1242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1e06109224aa0" /><Relationship Type="http://schemas.openxmlformats.org/officeDocument/2006/relationships/notesSlide" Target="/ppt/notesSlides/notesSlide11.xml" Id="Rbab39c92566a4a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3EB6F-D593-4E11-9617-A2FCCD85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数据基础设施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搭建说明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148CD-0856-4584-BE5F-41B89031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从“能下载数据”到“可研究、可复测、可审计的数据地基”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5EF6D-F60E-420B-A0F7-56AB63C9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76300"/>
            <a:ext cx="31623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98B84-43E2-443B-A280-0082C963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00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核心判断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9376E-1156-4B83-8576-91AB7DF7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2400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数据湖不是文件夹。</a:t>
            </a:r>
          </a:p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它是一组受控的口径、加载、校验和血缘约束。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9FCEF-EEB1-40D2-B922-D1A9C10A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8BBED-1B88-48C6-B8BD-6EE42ED3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范围: data_lake / lake / scripts/data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18F35-02D8-4B05-8BED-A58D860B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2026-07-03</a:t>
            </a:r>
          </a:p>
        </p:txBody>
      </p:sp>
    </p:spTree>
    <p:extLst>
      <p:ext uri="{BB962C8B-B14F-4D97-AF65-F5344CB8AC3E}">
        <p14:creationId xmlns:p14="http://schemas.microsoft.com/office/powerpoint/2010/main" val="2018827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B270EE-BC32-4D14-A4EA-9DC8EFAE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数据层的目标不是拉数据，而是让结论可信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8B4B8-2E5E-4C7B-867D-4811B2F1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后续 alpha、回测、门禁和 Web 看板都建立在这个地基上。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7D803-46EE-45D2-95C6-74DABE83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B0161-C21F-422D-9B1E-11E6FC34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2EE53-92E5-4C0E-977B-55D8D7FF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0B6D1-FF03-46EF-9EB9-9F1B53AC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全市场口径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A7135-9DA9-4FDE-AE81-87437B3C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1336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覆盖主板、创业板、科创板、中小市值、停牌、ST、上市时间和退市历史。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F519A-36CB-4048-9F50-0B2875C2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B83EC-A856-4D53-8F9F-746F5F4A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点时间可用性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21E8D-DF6C-45C3-9EE3-69BD02F3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21336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 日信号只能使用当时已经可知的信息。公告、财务、资金面必须有可见日。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3DA50-2BDE-4CAE-934F-C4FBF692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51816-833D-414D-AB85-359CF12E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统一事实源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4EB27-A0B6-48DD-B7D5-E1D601E7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21336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正式研究只认 data_lake + lake/load_lake.py 的 canonical 加载路径。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8F1DC-0B25-464B-A1E2-5F6E1405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A7B5A-8817-42C5-8E21-6B7F2CB9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写入可审计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E3FCB-3488-48BF-951A-B08FB43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21336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落盘前检查 schema、单位、截面异常、质量报告和 manifest；失败时 fail closed。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AB6EB-AC6A-4871-9A6E-862DCE3C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这四条直接对应数据层最常见的失败方式：样本污染、未来函数、口径漂移和静默坏数据。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E5E2D-B444-462F-BFD1-17B77695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股因子研究系统 / Data Infrastructure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FDD49-C8F8-48C0-B428-E6BA5E97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90643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56BC86-676D-40CE-8092-13B38920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数据基础设施按五层搭建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92379-8B33-47F1-A5C8-1E40BDA3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每一层都只解决自己的问题，并把可审计接口交给上一层。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1FC41-FB4D-441D-BF49-1A0E9C4A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6317D-6A68-446D-BD2F-0F747F6D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1091C-5DAA-40B6-B42D-04597BAD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6922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A40BD-40F5-4E68-A33F-8196F017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50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外部数据源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95D3B-AC66-437E-BFD9-719352CA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2266950"/>
            <a:ext cx="13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0D6D1-7E6B-47D9-B7CB-DBA2937F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275" y="2000250"/>
            <a:ext cx="16922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71CB1-C337-4282-9642-9B2B3DA3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525" y="2238375"/>
            <a:ext cx="150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抓取/更新脚本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05DB2-436E-453F-95A7-B03CE22C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266950"/>
            <a:ext cx="13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BBE4D-0688-4BD6-80FB-ACC515F5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000250"/>
            <a:ext cx="16922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ACB0D-7A24-4B9C-BAA5-FB1208D1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238375"/>
            <a:ext cx="150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data_lake 存储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79134-E47A-4227-BE52-6CC5F871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66950"/>
            <a:ext cx="13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6FA82-DBF8-4326-9662-B3392C0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00250"/>
            <a:ext cx="16922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95271-2648-4A9E-A853-4E0C305B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38375"/>
            <a:ext cx="150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lake 加载与对齐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D31AB-5EA8-413B-A3CA-8F164487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2266950"/>
            <a:ext cx="13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FE406-41F2-4EE2-865F-30BA6614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000250"/>
            <a:ext cx="16922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DA2F1-7035-4776-9517-297A9EA3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38375"/>
            <a:ext cx="150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质量/指纹/守卫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86BD4-3A97-4415-84EA-DFC1414F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775" y="2266950"/>
            <a:ext cx="13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4E00F-FA3B-46FD-AB84-E6BDB841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175" y="2000250"/>
            <a:ext cx="16922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92F9D-B67A-44B2-AC61-72159DF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2238375"/>
            <a:ext cx="150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研究与 Web 消费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4CF50-8805-494D-9242-43CACD1A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857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447E1-5680-4A78-BABE-EB7E48AB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关键边界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F6615-32E6-4AD3-ABB8-4D061FE2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数据层向上提供面板，不提供策略结论；API 和 Web 不应直接读写 data_lake。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E9E8E8-B114-4F13-9458-121235EF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857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CD6B6-993A-4F47-84D9-AC3AE250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719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可靠性来源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336DA9-38AD-4D7F-8EF2-DCD909CE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schema 固化字段，loader 固化 PIT 语义，invariants 和 CI 守卫禁止旁路。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98541-E093-413A-8376-3B031030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股因子研究系统 / Data Infrastructure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5D5EB-D30C-4302-9DBD-0B2E92D1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0274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9D10A5-F19D-4D56-8944-077C5ECB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数据源按用途组合，而不是依赖单一供应商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71DAD-30D0-4BA8-A048-DF77CB6D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后复权、不复权、财务、资金、交易状态和事件数据承担不同研究职责。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21D2B-6E98-4FE9-BB0B-ADF3BC71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E20C2-ED53-4F5F-BF6E-7BFDA999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C2FE2-3E6D-4DE8-A1EE-B8E8B3F7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0782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50EBB-3F56-43EA-B92B-5E14212E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E5AEE-8FFC-4E61-AB15-C729D21B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71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主要来源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F933E-2676-4FD7-8609-9A5CF907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71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研究用途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436D8-44C9-4C08-B16A-0C444FBC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84FCD-396A-42E8-93D4-E8791743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后复权价量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F9BAA-D25F-4B4C-AFB2-A42FD1A7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574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Tencent / 历史湖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06AF2-2D1E-439A-877E-3AAEB473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574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收益率、动量、技术因子、回测净值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3D97A-93AB-4EF5-A210-DCE59C16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4FDA0-3A8E-405A-8EAB-4708D62A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不复权 OHLC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8E494-621C-460E-94A6-CBEB9E35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670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通达信 / Tushare daily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E2176-154E-4E3D-B9B6-2726668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670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估值、真实价格展示、模拟盘口径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739A9-5E43-42C6-94D4-FFB74DE4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81C82-8E31-4308-9516-81EF4919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财务与估值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2BC24-91CD-4D09-A6B7-D1385A4D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Eastmoney / Tushare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C8B15-F80F-444A-A0CC-6CCAFC18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766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质量、成长、杠杆、真 Barra Size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B9B68-2FF9-427D-84D3-717A10B2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14EE3-D9DF-473F-B8F9-661E76BE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862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资金与约束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15945-9204-4D8D-99CB-F4499A58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862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交易所 / 东财 / Tushare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9E476-0A96-465C-9A52-4FD272C2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62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两融、北向、涨跌停、停复牌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544EF-66D3-4A53-BF8D-54DEB9B4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A0278-2CF7-4B31-A2E2-50E9639F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事件与持有人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13F330-0E06-4D34-BB87-50189E27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95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Tushare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5D10B-555E-455C-AE01-DEC946B5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958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业绩预告、解禁、龙虎榜、机构行为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967F9A-87A0-449C-910A-C20AC8B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897C9-FA1D-4F74-94B2-F369EAA2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ETF / 跨资产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17025-E4AA-4307-B339-D0906D1F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054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cross_asset 更新脚本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9DED0D-959D-4E68-B597-96014F85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054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防守资产、组合腿、闲置资金管理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DE0FD4-DC78-4618-BD3F-12592C59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股因子研究系统 / Data Infrastructure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0AA52F-98CB-49B4-BCAD-95880453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9823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794484-08AD-443D-B3E4-2EB1D2B2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data_lake 的布局同时服务修复和性能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87557-7681-481A-AC7B-94C68584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逐只文件保留局部修复能力，大表保留正式加载性能。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372CE-07DA-4CFF-A778-C1A40B58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5A0C2-8FED-4456-940D-6DD6A8D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70DBD-E379-408D-AC04-41AAEA51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E2BF9-09DC-41E3-94E5-9C797340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基础层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797A5-D854-4052-81AE-69E6F22A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price/daily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price/daily_all.parquet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price/daily_raw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fundamental_batch.parquet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capital/*_all.parquet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F65F-19DC-493F-915B-713C6850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价量、财务、资金和 meta 是所有研究路径的最小可信地基。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C54B4-5A7E-4C0E-86AD-E4A25C47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E0928-9C55-4574-8C3D-C72FC742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扩展层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12245-664D-4768-BF46-2F0B555E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985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daily_basic / financials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moneyflow / market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event / holder / index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meta/trade_calendar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_manifest / tushare_manifest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B5C88-7CE4-41F0-AD9C-DDDB21D6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76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Tushare 扩展维度提供横截面解释力，但不替代基础口径。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85FBA-D440-403A-8F24-3CCDB22F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4D159-ED00-4EF2-9F24-412C2BC1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股因子研究系统 / Data 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2634E-8F84-4D36-8C4F-CFEC8FC8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68517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F1D6E9-90EE-4A81-AF46-E6042EA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schema 和 loader 把口径固定下来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E1709-FB5A-4474-B131-9E4AA470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字段标准化解决列名漂移；统一加载层解决点时间可用性。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40304-1E06-42E2-8DDE-9F2C06B2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50592-28D0-4AA8-A5BB-6E0D9079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F36B5-FAF9-4251-841C-722D63C4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B3400-4D8D-455B-90FE-6D78707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lake/schema.py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AAD04-E0EC-44EB-AEAE-6E8BE4D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610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集中定义标准字段、rename 映射和 Tushare dataset 注册表。新维度先声明字段和口径，再进入加载层。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5836E-FF7B-43AE-9E64-3EA54065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9D885-7EDF-402B-AADF-05BD8D3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621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lake/load_lake.py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B0A71-A332-49A8-B76E-FFB0CD0F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24100"/>
            <a:ext cx="4610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所有正式代码经统一接口读取面板，不直接读 parquet。加载时完成清洗、隔离、PIT 对齐和 fallback。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0A5DA-2DFD-48BA-984F-AB46A945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744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8379A-65B0-41B5-92E0-925E7B0E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核心规则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F832C-19AD-46E8-BFFD-25DAACE1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财务 / 公告按 ann_date 或 avail_date 生效；资金面盘后发布统一 shift(1)；估值只能用不复权价或源定义一致的估值字段。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B9F28-D9EE-4D84-9E89-D4884B1B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股因子研究系统 / Data 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0BDCB-22B1-4E04-B983-B2B67A5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4639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7A55E7-8B21-4C3C-A83E-0DD0CB6C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增量更新通过声明式接口扩展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D9002-C13A-46C6-B4F6-87613AD6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Tushare 新维度通常不是写新抓取逻辑，而是在 INTERFACES 里补声明。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AC0BA-B958-43EF-B8C6-6011E757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9083F-F527-4C1C-ACE1-129D9224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52F21-FF6E-4A16-9DC8-4D776999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06502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860C5-85B2-4016-A797-DA6A24A5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8745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声明接口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15D0F-6C99-4B74-AE91-F6E73121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2076450"/>
            <a:ext cx="13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12F8C-444A-4694-AF16-6EA4B97A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1809750"/>
            <a:ext cx="206502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C3C24-9E14-4749-848D-32ECD7DF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047875"/>
            <a:ext cx="18745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识别已完成 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350D1-B552-458C-A212-1F8ED87A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2076450"/>
            <a:ext cx="13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8BDB2-71DE-4846-AFE2-4FA92330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1809750"/>
            <a:ext cx="206502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8CACF-7588-42F0-B8BB-D892A0E4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2047875"/>
            <a:ext cx="18745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按 mode 抓取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C27F9-06AE-4520-9620-F6FB2686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560" y="2076450"/>
            <a:ext cx="13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0247E-637D-41B9-B27E-D190379C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1809750"/>
            <a:ext cx="206502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A1C30-205D-44B8-BBC1-B2E9D566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2047875"/>
            <a:ext cx="18745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分批 flush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A1A7B-0D0C-4B6F-8DC4-7AA366CF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030" y="2076450"/>
            <a:ext cx="13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BF742-923C-40F5-9A6C-A08BF944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1809750"/>
            <a:ext cx="206502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C4D25-A2D1-44E0-9AFD-6605C53B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047875"/>
            <a:ext cx="18745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写 manifest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1C215-2DA4-4F88-8BC5-4CFC33A2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89337-72A8-48EB-9600-FC3F1B02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by_date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5B480E-9DF6-4A05-A72D-E26448A9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每个交易日一次，适合全市场日频横截面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414FD-80C5-4087-8EB2-3B14A4CE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5F9E7E-7A1B-42F0-91CE-A10BC72A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480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by_period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BF183-5149-40B6-BE1F-7DE3E010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每个报告期一次，适合财报三表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330E2-12A1-47D4-80F2-706CBB41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24C0A-AC3A-458A-80BC-5570056D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480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by_stock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9256E1-1629-4C39-A2FD-3FC3D587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00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每只股票一次拿全史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880D2-8FFF-44F1-B6BA-3028B8CC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A83BBC-1D58-4E01-A9D3-2044AEA5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by_index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220039-11F6-4ABF-906E-CBB39441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每个指数一次拿全史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DF2B8B-9458-4D48-B663-56AD1731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7675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1F08CE-719E-4500-A31E-890C009C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E391A-AAD7-465F-87BC-74831E69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911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一次性元数据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83CC4F-E7F3-47B0-96D8-7D3ED547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股因子研究系统 / Data Infrastructure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A348B6-CDFF-4684-8D9F-A2112BCB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20512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5245D-30B9-4215-85D4-33240262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Tushare 扩展层补充横截面信息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5BDEA-90B0-46A2-8CD8-6158F6E6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它提供多维度研究原料，但硬配额和大体量接口必须单独处理。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725C4-C509-4437-A064-286A5D21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9B995-A0C4-4F9D-B45B-850DF045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4D158-C188-485B-AE09-9019B96D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2266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75A9C-8F2D-490A-8C39-DF77AD2A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市值/估值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1A1BE-A700-4888-9191-6183E4E1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daily_basic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CF597-4494-4A77-BE15-EC574286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95450"/>
            <a:ext cx="2266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C9E9A-7D08-4E25-8B7F-0EDAFC61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财务质量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F68C8-B866-4965-BD04-8AE3FA24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fina_indicator / income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3AEC1-C568-4B76-AAB5-2886F337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2266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FD80B-97FB-4F55-B44F-B9EA1F7A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5AAFE-2F05-44B0-AECB-3B17B5C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forecast / express / top_list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0204E-313B-4AFD-A607-963A50C2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266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84BC5-8E98-446B-8C19-A9AB08D0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资金流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AD576-2F0C-40AA-B158-B791DC8D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moneyflow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8D8DF-62A2-4270-9423-8528DD10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2266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FDFEF-E79E-42F8-BDC7-AB851EE1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交易约束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16A44-4ABD-471D-9135-EDE42E64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stk_limit / suspend_d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E0604-F99F-43FE-B695-D2233991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2266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EAA0B-648F-4BA1-A3CA-2907C86D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76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持有人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3F2A6-202C-461A-B7BE-766FA613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holdernumber / top10_holders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653ED-F191-4297-8944-E5BC9B19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266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ABF23-F59F-42EB-84E7-D89DE2A3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DCAD4-D0B6-49AB-BFD6-35776D84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pledge_stat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5F530-D986-4EB1-8C85-16C9748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24200"/>
            <a:ext cx="2266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A61DB2-4C2B-4C74-88DF-C8DD6A2B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行业指数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AF7B5-A8B0-400A-8BAB-85D1B824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385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index_daily / index_classify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7726E1-D776-4946-8C57-879CE1B5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边界: cyq_perf、limit_list_d 等接口有日/小时硬配额；不能靠重试或并发解决。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989FD-F998-4A9A-B05A-EBF1B8F9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股因子研究系统 / Data Infrastructure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100782-705D-4F49-82A7-104BFBDF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9593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82346C-712B-40D6-910C-BFDC2ED8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质量控制从事后检查升级为写路径闸门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1767C-9B1A-47C2-A01D-B6FF5F47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一次后复权混入口径事故后，数据层把异常拦截前移到落盘前。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A0562-EBB1-42E6-82E1-E4A28140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5D424-AE32-49BA-90A1-7F26FCAF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C585A-5BFC-4B1F-A598-0B836BA2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FE62F-3DC8-4C91-B186-1B168B0E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截面异常不变量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7E8DD-19DD-4C02-A8CC-9B70A7C0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9908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最近几日如果全市场大比例股票同时 |r| &gt; 30%，更可能是复权断裂或口径混入，直接拒绝落盘。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B3D26-9C24-48BC-975C-692D7CE4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A4F41-F275-4852-A2FE-61BF444A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价量单位不变量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3C580-F9E3-4E36-8962-4B40DB53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29908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检查 amount ≈ volume(shares) × raw_close，防止股/手单位错 100 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44F75-1499-4461-9038-AB02A8BC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9070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9E272-7BB5-4DDB-AD5A-2C13D2A1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隔离与修复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D7ACE-8357-4EC3-B539-281DAC45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9908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load_prices 自动应用 quarantine 和确定性 OHLC 自洽修复。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B3BB0-3AA6-4E19-BDAF-8E7E5666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1122E-7573-4324-99E6-3520BDBD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数据指纹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B4522-6A89-4541-88EB-D03CFB68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vintage 追加面板内容 sha256 截断指纹，同日重写也能被识别。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D14CE-B406-4765-863B-F846FEEF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5CE85-81DE-4D23-A3DA-B8AA88A3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质量报告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1B317-4BC9-4CD4-80C5-5A293456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validate_final.py 输出 quality_report.json，Web 不应硬编码绿灯。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6E07A-9491-440D-9608-F0BEBA36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C99BC-4B53-4E06-8F03-850D623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fail closed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F75C2-A0EA-48E7-B357-B7804DB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质量失败时保留旧文件或阻断下游，不静默换口径继续研究。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110B9-9163-403B-B3C1-AC9BE2B7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股因子研究系统 / Data Infrastructure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AB041-D8DF-4727-BBA1-09C8E6B8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7742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6FEACC-168C-469C-9937-29795197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写入纪律和性能优化让数据层可长期维护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C4E27-BA3E-4D7C-A0A7-E5737CE6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可靠模式是先建 canonical writer/loader，再迁移调用方并加 AST-aware 守卫。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82A5B-E42D-4324-9636-7325CE49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B971A-5F1C-4C92-882B-A5D00A66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49755-92D1-43D3-BB00-E46F559C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58C99-6D41-47C1-A1B3-CF916C26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写入纪律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32349-7B6F-43D1-877A-2041AAA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610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核心 data_lake 写入必须在 lake/ 或 scripts/data/ 的受控入口；禁止正式路径读 data_full。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EC51A-EBDA-4C3E-97B2-8577ECCD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97881-78E7-4049-A734-004CE550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621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路径治理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655E7-141A-4500-8B12-02DC6FC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24100"/>
            <a:ext cx="4610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运行产物、报告、信号和模拟盘路径应经 ArtifactPaths 或 service 层，不在 API 里 open-code。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90EB8-0C1D-4DCB-8DC2-BB011258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F8CBC-792F-4558-A0D4-ED3B229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加载性能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C0D29-32D9-4816-9A27-C4E7125D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610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正式加载优先读 daily_all / daily_raw_all，并尽量用 parquet filters 做日期 pushdown。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F05C7-F28E-4DEA-A012-7CEA2972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E8C1D-2CCC-4E93-9740-E4C9D0A9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raw 日更优化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D156F-29DF-431E-BE94-80B90F1A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4610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不复权 OHLC 从 5200+ 次逐股请求优化为 Tushare 单日全市场批量请求，分钟级降到秒级。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DB6E7-D621-4CB5-95D7-631C0B9E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股因子研究系统 / Data Infrastructure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0D7F6-4847-4951-BBC3-029C150B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27666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691574-8387-45C6-8182-7E7C10D9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健康标准不是文件存在，而是证据可追责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CFB85-A8DE-434A-B9E6-3B74718A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重建、日更和验证都要能追到 manifest、quality report 和内容指纹。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20F43-8913-481C-8FB4-639AC6E6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数据基础设施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3AB7C-C95D-4E28-AA4E-051DAFF6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3FE6F-0E25-4020-935C-6205A1CD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09F41-DBBA-46EC-86C3-99901A8A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重建顺序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A41E4-4551-4E73-AA61-1A8D9BCC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准备 TUSHARE_TOKEN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build_lake / fetch_raw_close / compact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build_fundamental_batch / update_lake --all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update_tushare 指定接口或 --all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validate_final + CI 守卫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scheduled_daily_update 日常运行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A522F-5836-4D42-9D80-EC1BA5DA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BEFA1-9C44-49AF-B1F8-918E48A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健康标准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2C302-4C47-4E29-B6F2-47E49870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09850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manifest 可对账，最新交易日合理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无 severe 数据质量问题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单位和截面异常不变量通过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财务/事件按公告日可见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正式研究不读旧 data_full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• 回测证据能追到数据 vintage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CEC77-A9C0-4779-A565-5BEB0C85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结论: 数据层的价值不在于数据多，而在于能经得起复测、审计和失败时的追责。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D38D0-02BB-4C29-80CB-31899B0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股因子研究系统 / Data Infrastructure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5938E-B9CA-4903-B030-1577522D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7566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2026-07-03T03:35:29.5420000Z</dcterms:created>
  <dcterms:modified xsi:type="dcterms:W3CDTF">2026-07-03T03:35:29.5420000Z</dcterms:modified>
</coreProperties>
</file>