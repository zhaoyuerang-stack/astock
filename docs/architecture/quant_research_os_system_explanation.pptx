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234440"/>
            <a:ext cx="804672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600" b="1">
                <a:solidFill>
                  <a:srgbClr val="E4ECF5"/>
                </a:solidFill>
                <a:latin typeface="Arial"/>
              </a:rPr>
              <a:t>Quant Research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7724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48BBDC"/>
                </a:solidFill>
                <a:latin typeface="Arial"/>
              </a:rPr>
              <a:t>A 股全市场因子量化研究系统说明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560320"/>
            <a:ext cx="7863840" cy="7315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0">
                <a:solidFill>
                  <a:srgbClr val="E4ECF5"/>
                </a:solidFill>
                <a:latin typeface="Arial"/>
              </a:rPr>
              <a:t>核心不是承诺一条神策略, 而是把发现、证伪、入册、监控、退役做成可审计的工程闭环。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097280"/>
            <a:ext cx="3154680" cy="42976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0" y="1508760"/>
            <a:ext cx="2697480" cy="32918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全市场日频数据地基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统一回测权威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AutoResearch 候选工厂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9-Gate + DSR + Holdout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策略生命周期台账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研究优先的决策驾驶舱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6108192"/>
            <a:ext cx="59436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50" b="0">
                <a:solidFill>
                  <a:srgbClr val="9AAABE"/>
                </a:solidFill>
                <a:latin typeface="Arial"/>
              </a:rPr>
              <a:t>2026-07-03 / Generated for ppt-master-style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为什么需要这套系统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个人量化最危险的不是没有工具, 而是工具让自欺更快。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3291840" cy="31546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41832" y="1874519"/>
            <a:ext cx="1508760" cy="310896"/>
          </a:xfrm>
          <a:prstGeom prst="roundRect">
            <a:avLst/>
          </a:prstGeom>
          <a:solidFill>
            <a:srgbClr val="EF5B5B"/>
          </a:solidFill>
          <a:ln w="12700">
            <a:solidFill>
              <a:srgbClr val="EF5B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50F19"/>
                </a:solidFill>
                <a:latin typeface="Arial"/>
              </a:rPr>
              <a:t>回测入口太多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487168"/>
            <a:ext cx="260604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>
                <a:solidFill>
                  <a:srgbClr val="E4ECF5"/>
                </a:solidFill>
                <a:latin typeface="Arial"/>
              </a:rPr>
              <a:t>每个脚本各算一套收益, 口径漂移后结果不可复现。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600200"/>
            <a:ext cx="3291840" cy="31546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736592" y="1874519"/>
            <a:ext cx="1508760" cy="310896"/>
          </a:xfrm>
          <a:prstGeom prst="roundRect">
            <a:avLst/>
          </a:prstGeom>
          <a:solidFill>
            <a:srgbClr val="F5B84F"/>
          </a:solidFill>
          <a:ln w="12700">
            <a:solidFill>
              <a:srgbClr val="F5B8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50F19"/>
                </a:solidFill>
                <a:latin typeface="Arial"/>
              </a:rPr>
              <a:t>研究结论太乐观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73168" y="2487168"/>
            <a:ext cx="260604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>
                <a:solidFill>
                  <a:srgbClr val="E4ECF5"/>
                </a:solidFill>
                <a:latin typeface="Arial"/>
              </a:rPr>
              <a:t>大量试错只展示幸存者, 没有把搜索自由度计入惩罚。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600200"/>
            <a:ext cx="3291840" cy="31546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31352" y="1874519"/>
            <a:ext cx="1508760" cy="310896"/>
          </a:xfrm>
          <a:prstGeom prst="roundRect">
            <a:avLst/>
          </a:prstGeom>
          <a:solidFill>
            <a:srgbClr val="4F8CFF"/>
          </a:solidFill>
          <a:ln w="1270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50F19"/>
                </a:solidFill>
                <a:latin typeface="Arial"/>
              </a:rPr>
              <a:t>页面容易造假安全感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67928" y="2487168"/>
            <a:ext cx="260604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>
                <a:solidFill>
                  <a:srgbClr val="E4ECF5"/>
                </a:solidFill>
                <a:latin typeface="Arial"/>
              </a:rPr>
              <a:t>绿灯、排行榜和收益曲线可能绕过真实验证。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85232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8BBDC"/>
                </a:solidFill>
                <a:latin typeface="Arial"/>
              </a:rPr>
              <a:t>系统的第一性目标: 把“别骗自己”从口号变成代码、台账、守卫和流程。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一句话定位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这不是行情看板, 也不是单策略回测脚本。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20116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发现候选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0670" y="202082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6974" y="18288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0126" y="20116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证伪伪 alpha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4724" y="202082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1028" y="18288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4180" y="20116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登记策略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8779" y="202082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5083" y="18288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8235" y="20116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监控衰减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2833" y="202082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9137" y="18288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32289" y="20116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退役替换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2971800"/>
            <a:ext cx="5349240" cy="196596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971800"/>
            <a:ext cx="5257800" cy="196596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2461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52C47E"/>
                </a:solidFill>
                <a:latin typeface="Arial"/>
              </a:rPr>
              <a:t>真正资产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675887"/>
            <a:ext cx="4572000" cy="914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数据基础设施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策略工厂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防自欺验证流程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生命周期台账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3246120"/>
            <a:ext cx="22860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F5B84F"/>
                </a:solidFill>
                <a:latin typeface="Arial"/>
              </a:rPr>
              <a:t>核心假设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675887"/>
            <a:ext cx="4526280" cy="914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任何单一策略默认会失效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漂亮回测默认先按污染或过拟合审查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研究目标是持续替换, 不是永恒达标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七层静态架构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单向依赖链是系统可信度的基础。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417320"/>
            <a:ext cx="10241280" cy="47548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1527048"/>
            <a:ext cx="2743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48BBDC"/>
                </a:solidFill>
                <a:latin typeface="Arial"/>
              </a:rPr>
              <a:t>data_lake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6200" y="1527048"/>
            <a:ext cx="67665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E4ECF5"/>
                </a:solidFill>
                <a:latin typeface="Arial"/>
              </a:rPr>
              <a:t>全市场价量 / 财务 / ETF / 指纹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2084832"/>
            <a:ext cx="10241280" cy="475488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194560"/>
            <a:ext cx="2743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48BBDC"/>
                </a:solidFill>
                <a:latin typeface="Arial"/>
              </a:rPr>
              <a:t>lake + loaders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194560"/>
            <a:ext cx="67665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E4ECF5"/>
                </a:solidFill>
                <a:latin typeface="Arial"/>
              </a:rPr>
              <a:t>加载、校验、invariants、质量报告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2752344"/>
            <a:ext cx="10241280" cy="47548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78992" y="2862072"/>
            <a:ext cx="2743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48BBDC"/>
                </a:solidFill>
                <a:latin typeface="Arial"/>
              </a:rPr>
              <a:t>factors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862072"/>
            <a:ext cx="67665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E4ECF5"/>
                </a:solidFill>
                <a:latin typeface="Arial"/>
              </a:rPr>
              <a:t>canonical 因子公式与 DSL 适配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3419856"/>
            <a:ext cx="10241280" cy="475488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3529584"/>
            <a:ext cx="2743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48BBDC"/>
                </a:solidFill>
                <a:latin typeface="Arial"/>
              </a:rPr>
              <a:t>core.engine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3529584"/>
            <a:ext cx="67665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E4ECF5"/>
                </a:solidFill>
                <a:latin typeface="Arial"/>
              </a:rPr>
              <a:t>唯一回测权威: 成本 / T+1 / 指标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087368"/>
            <a:ext cx="10241280" cy="47548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4197096"/>
            <a:ext cx="2743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48BBDC"/>
                </a:solidFill>
                <a:latin typeface="Arial"/>
              </a:rPr>
              <a:t>strategies + factory + workflow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4197096"/>
            <a:ext cx="67665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E4ECF5"/>
                </a:solidFill>
                <a:latin typeface="Arial"/>
              </a:rPr>
              <a:t>生产策略、候选生成、晋级闸门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4754880"/>
            <a:ext cx="10241280" cy="475488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4864608"/>
            <a:ext cx="2743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48BBDC"/>
                </a:solidFill>
                <a:latin typeface="Arial"/>
              </a:rPr>
              <a:t>registry + portfolio + production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86200" y="4864608"/>
            <a:ext cx="67665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E4ECF5"/>
                </a:solidFill>
                <a:latin typeface="Arial"/>
              </a:rPr>
              <a:t>台账、组合、信号、模拟盘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68680" y="5422392"/>
            <a:ext cx="10241280" cy="47548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532120"/>
            <a:ext cx="274320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1">
                <a:solidFill>
                  <a:srgbClr val="48BBDC"/>
                </a:solidFill>
                <a:latin typeface="Arial"/>
              </a:rPr>
              <a:t>services + API + Web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5532120"/>
            <a:ext cx="676656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E4ECF5"/>
                </a:solidFill>
                <a:latin typeface="Arial"/>
              </a:rPr>
              <a:t>读模型、动作边界、决策驾驶舱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6190488"/>
            <a:ext cx="98755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50" b="0">
                <a:solidFill>
                  <a:srgbClr val="9AAABE"/>
                </a:solidFill>
                <a:latin typeface="Arial"/>
              </a:rPr>
              <a:t>守卫: check_layer_deps.py 强制下层不得反向依赖上层。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核心流程: alpha 生命周期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从研究素材到正式台账, 每一步都有闸门。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81328"/>
            <a:ext cx="125044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664208"/>
            <a:ext cx="110413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假设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71650" y="1673352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17954" y="1481328"/>
            <a:ext cx="125044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1106" y="1664208"/>
            <a:ext cx="110413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候选生成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86684" y="1673352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2987" y="1481328"/>
            <a:ext cx="125044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6139" y="1664208"/>
            <a:ext cx="110413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L0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1717" y="1673352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48022" y="1481328"/>
            <a:ext cx="125044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1174" y="1664208"/>
            <a:ext cx="110413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L1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16751" y="1673352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1481328"/>
            <a:ext cx="125044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36207" y="1664208"/>
            <a:ext cx="110413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L2/L3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31786" y="1673352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78090" y="1481328"/>
            <a:ext cx="125044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51242" y="1664208"/>
            <a:ext cx="110413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9-Gate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46819" y="1673352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93124" y="1481328"/>
            <a:ext cx="125044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66276" y="1664208"/>
            <a:ext cx="110413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登记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61854" y="1673352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408158" y="1481328"/>
            <a:ext cx="125044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81310" y="1664208"/>
            <a:ext cx="110413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监控/退役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2514600"/>
            <a:ext cx="3383280" cy="260604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07408" y="2514600"/>
            <a:ext cx="3383280" cy="260604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028431" y="2514600"/>
            <a:ext cx="3383280" cy="260604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27889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52C47E"/>
                </a:solidFill>
                <a:latin typeface="Arial"/>
              </a:rPr>
              <a:t>生成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246120"/>
            <a:ext cx="2743200" cy="11887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人/强模型提出机制假设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DeepSeek/DSL 批量生成候选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输出进入候选池, 不是台账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81728" y="2788920"/>
            <a:ext cx="1097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F5B84F"/>
                </a:solidFill>
                <a:latin typeface="Arial"/>
              </a:rPr>
              <a:t>验真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81728" y="3246120"/>
            <a:ext cx="2743200" cy="11887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L0 IC、L1 快回测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walk-forward、成本、regime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9-Gate、DSR、PBO、holdout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2788920"/>
            <a:ext cx="146304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8BBDC"/>
                </a:solidFill>
                <a:latin typeface="Arial"/>
              </a:rPr>
              <a:t>生命周期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3246120"/>
            <a:ext cx="2788920" cy="118872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phase4_register 唯一入册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监控衰减和漂移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退役保留历史, 不洗白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防自欺治理机制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自动化一个有缺陷的循环, 只会工业化地产生假 alpha。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4983480" cy="15544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373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8BBDC"/>
                </a:solidFill>
                <a:latin typeface="Arial"/>
              </a:rPr>
              <a:t>Trial 账本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2221991"/>
            <a:ext cx="4343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E4ECF5"/>
                </a:solidFill>
                <a:latin typeface="Arial"/>
              </a:rPr>
              <a:t>记录累计搜索自由度, DSR 按真实试错规模惩罚。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4983480" cy="15544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65392" y="17373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8BBDC"/>
                </a:solidFill>
                <a:latin typeface="Arial"/>
              </a:rPr>
              <a:t>Holdout 金库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221991"/>
            <a:ext cx="4343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E4ECF5"/>
                </a:solidFill>
                <a:latin typeface="Arial"/>
              </a:rPr>
              <a:t>搜索和晋级评估都截断到 boundary 之前, 晋级前唯一触碰。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566160"/>
            <a:ext cx="4983480" cy="15544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37947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8BBDC"/>
                </a:solidFill>
                <a:latin typeface="Arial"/>
              </a:rPr>
              <a:t>9-Gate 自证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4279392"/>
            <a:ext cx="4343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E4ECF5"/>
                </a:solidFill>
                <a:latin typeface="Arial"/>
              </a:rPr>
              <a:t>证据必须由本策略本宇宙一次可复现运行机械产出。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566160"/>
            <a:ext cx="4983480" cy="15544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65392" y="3794760"/>
            <a:ext cx="2286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48BBDC"/>
                </a:solidFill>
                <a:latin typeface="Arial"/>
              </a:rPr>
              <a:t>架构守卫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5392" y="4279392"/>
            <a:ext cx="43434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50" b="0">
                <a:solidFill>
                  <a:srgbClr val="E4ECF5"/>
                </a:solidFill>
                <a:latin typeface="Arial"/>
              </a:rPr>
              <a:t>分层依赖、数据湖写入、旧数据禁用、台账证据都由 CI 守卫。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LLM / Agent 分工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LLM 是燃料, 不是裁判。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5074920" cy="416052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55080" y="1508760"/>
            <a:ext cx="5074920" cy="416052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52C47E"/>
                </a:solidFill>
                <a:latin typeface="Arial"/>
              </a:rPr>
              <a:t>可以做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206240" cy="1828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候选因子生成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批量 NLP 抽取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研究假设草拟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报告解释与错误定位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编排建议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EF5B5B"/>
                </a:solidFill>
                <a:latin typeface="Arial"/>
              </a:rPr>
              <a:t>不能做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331720"/>
            <a:ext cx="4160520" cy="18288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判断 alpha 是否有效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决定是否入册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替代回测 / DSR / PBO / holdout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为达标改成本、样本、shift 或 T+1</a:t>
            </a:r>
          </a:p>
          <a:p>
            <a:pPr>
              <a:spcAft>
                <a:spcPts val="230"/>
              </a:spcAft>
              <a:defRPr sz="1400">
                <a:solidFill>
                  <a:srgbClr val="E4ECF5"/>
                </a:solidFill>
                <a:latin typeface="Arial"/>
              </a:defRPr>
            </a:pPr>
            <a:r>
              <a:t>越权给真实交易指令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989320"/>
            <a:ext cx="1024128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48BBDC"/>
                </a:solidFill>
                <a:latin typeface="Arial"/>
              </a:rPr>
              <a:t>判断恒为确定性代码: Alpha Audit、L0-L3、统一回测、9-Gate、台账守卫。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策略台账与生命周期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系统按母策略 family 管理, 不是按孤立版本堆结果。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73736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候选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0670" y="174650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66974" y="155448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0126" y="173736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观察/参考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84724" y="174650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31028" y="1554480"/>
            <a:ext cx="2099462" cy="658368"/>
          </a:xfrm>
          <a:prstGeom prst="roundRect">
            <a:avLst/>
          </a:prstGeom>
          <a:solidFill>
            <a:srgbClr val="52C47E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04180" y="173736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在册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8779" y="174650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95083" y="1554480"/>
            <a:ext cx="2099462" cy="658368"/>
          </a:xfrm>
          <a:prstGeom prst="roundRect">
            <a:avLst/>
          </a:prstGeom>
          <a:solidFill>
            <a:srgbClr val="F5B84F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8235" y="173736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衰减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2833" y="174650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9137" y="1554480"/>
            <a:ext cx="2099462" cy="658368"/>
          </a:xfrm>
          <a:prstGeom prst="roundRect">
            <a:avLst/>
          </a:prstGeom>
          <a:solidFill>
            <a:srgbClr val="EF5B5B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32289" y="173736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退役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2743200"/>
            <a:ext cx="5074920" cy="210312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2743200"/>
            <a:ext cx="5074920" cy="210312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035808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8BBDC"/>
                </a:solidFill>
                <a:latin typeface="Arial"/>
              </a:rPr>
              <a:t>family 必填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493008"/>
            <a:ext cx="4343400" cy="914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经济学假设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适用/不适用市场状态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预期失效信号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主要风险与现有策略关系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035808"/>
            <a:ext cx="164592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8BBDC"/>
                </a:solidFill>
                <a:latin typeface="Arial"/>
              </a:rPr>
              <a:t>version 必填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493008"/>
            <a:ext cx="4343400" cy="91440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因子定义和配置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样本内/样本外/压力绩效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成本、换手、容量、相关性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9-Gate 结果与退役条件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50" b="1">
                <a:solidFill>
                  <a:srgbClr val="F5B84F"/>
                </a:solidFill>
                <a:latin typeface="Arial"/>
              </a:rPr>
              <a:t>退役不是删除: 保留历史证据、触发原因、失效归因和旧配置。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Web 是决策驾驶舱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每个页面回答一个决策, 不是为了把页面填满。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645920"/>
            <a:ext cx="2395728" cy="329184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8BBDC"/>
                </a:solidFill>
                <a:latin typeface="Arial"/>
              </a:rPr>
              <a:t>Alpha 工厂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78608"/>
            <a:ext cx="1901952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E4ECF5"/>
                </a:solidFill>
                <a:latin typeface="Arial"/>
              </a:rPr>
              <a:t>下一轮研究算力投向哪里?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39" y="1645920"/>
            <a:ext cx="2395728" cy="329184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21607" y="1965960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8BBDC"/>
                </a:solidFill>
                <a:latin typeface="Arial"/>
              </a:rPr>
              <a:t>验证闸门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7" y="2578608"/>
            <a:ext cx="1901952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E4ECF5"/>
                </a:solidFill>
                <a:latin typeface="Arial"/>
              </a:rPr>
              <a:t>这个候选能否独立验证通过?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27648" y="1645920"/>
            <a:ext cx="2395728" cy="329184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1965960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8BBDC"/>
                </a:solidFill>
                <a:latin typeface="Arial"/>
              </a:rPr>
              <a:t>PM 交易台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578608"/>
            <a:ext cx="1901952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E4ECF5"/>
                </a:solidFill>
                <a:latin typeface="Arial"/>
              </a:rPr>
              <a:t>今天能否交易? 阻断证据是什么?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34855" y="1645920"/>
            <a:ext cx="2395728" cy="329184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36024" y="1965960"/>
            <a:ext cx="1920240" cy="32918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1">
                <a:solidFill>
                  <a:srgbClr val="48BBDC"/>
                </a:solidFill>
                <a:latin typeface="Arial"/>
              </a:rPr>
              <a:t>数据可信层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36024" y="2578608"/>
            <a:ext cx="1901952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E4ECF5"/>
                </a:solidFill>
                <a:latin typeface="Arial"/>
              </a:rPr>
              <a:t>数据、成本、时效、口径可信吗?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77840"/>
            <a:ext cx="1051560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52C47E"/>
                </a:solidFill>
                <a:latin typeface="Arial"/>
              </a:rPr>
              <a:t>原则: 答案先行、单一真相源、研究不得自评、没有合格策略就诚实 fail-closed。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当前真实状态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系统价值重心在研究工厂与验证闸门, 不是积极交易。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5074920" cy="42976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508760"/>
            <a:ext cx="5074920" cy="429768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28800"/>
            <a:ext cx="1371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52C47E"/>
                </a:solidFill>
                <a:latin typeface="Arial"/>
              </a:rPr>
              <a:t>已具备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343400" cy="242316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全市场数据湖和质量机制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统一回测内核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AutoResearch / L0-L3 / 9-Gate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holdout、trial ledger、DSR、PBO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FastAPI + Next.js 产品面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自动模拟盘和防守资产管理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828800"/>
            <a:ext cx="15544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F5B84F"/>
                </a:solidFill>
                <a:latin typeface="Arial"/>
              </a:rPr>
              <a:t>必须诚实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331720"/>
            <a:ext cx="4297680" cy="192024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旧 standalone 策略多轮重审后大量降级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无可部署 alpha 时应拒绝交易绿灯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观察版本和纸面前向不能包装成正式在册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fail-closed 是系统正确工作, 不是故障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能力边界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系统能扩大研究吞吐, 不能取消投资常识。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554480"/>
            <a:ext cx="5074920" cy="411480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63640" y="1554480"/>
            <a:ext cx="5074920" cy="411480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109728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52C47E"/>
                </a:solidFill>
                <a:latin typeface="Arial"/>
              </a:rPr>
              <a:t>能做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331720"/>
            <a:ext cx="4343400" cy="2011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自动更新数据、生成信号和模拟盘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批量生成候选并做廉价验证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统一回测、成本敏感性、门禁审计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维护策略生命周期台账和证据链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在 Web 中解释研究、风险、数据、部署状态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1874519"/>
            <a:ext cx="12801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000" b="1">
                <a:solidFill>
                  <a:srgbClr val="EF5B5B"/>
                </a:solidFill>
                <a:latin typeface="Arial"/>
              </a:rPr>
              <a:t>不能做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65392" y="2331720"/>
            <a:ext cx="4343400" cy="2011680"/>
          </a:xfrm>
          <a:prstGeom prst="rect">
            <a:avLst/>
          </a:prstGeom>
          <a:noFill/>
        </p:spPr>
        <p:txBody>
          <a:bodyPr wrap="square" lIns="73152" rIns="73152" tIns="36576">
            <a:spAutoFit/>
          </a:bodyPr>
          <a:lstStyle/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自动真实下单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用 LLM 判断 alpha 有效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为达标改真实口径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绕过 workflow 直写台账</a:t>
            </a:r>
          </a:p>
          <a:p>
            <a:pPr>
              <a:spcAft>
                <a:spcPts val="230"/>
              </a:spcAft>
              <a:defRPr sz="1300">
                <a:solidFill>
                  <a:srgbClr val="E4ECF5"/>
                </a:solidFill>
                <a:latin typeface="Arial"/>
              </a:defRPr>
            </a:pPr>
            <a:r>
              <a:t>用旧数据或临时脚本作为正式绩效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78638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600" b="1">
                <a:solidFill>
                  <a:srgbClr val="E4ECF5"/>
                </a:solidFill>
                <a:latin typeface="Arial"/>
              </a:rPr>
              <a:t>总结: 系统价值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150" b="0">
                <a:solidFill>
                  <a:srgbClr val="9AAABE"/>
                </a:solidFill>
                <a:latin typeface="Arial"/>
              </a:rPr>
              <a:t>把“别骗自己”工程化。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143000"/>
            <a:ext cx="960120" cy="32004"/>
          </a:xfrm>
          <a:prstGeom prst="rect">
            <a:avLst/>
          </a:prstGeom>
          <a:solidFill>
            <a:srgbClr val="48B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" y="1508760"/>
            <a:ext cx="10378440" cy="4160520"/>
          </a:xfrm>
          <a:prstGeom prst="roundRect">
            <a:avLst/>
          </a:prstGeom>
          <a:solidFill>
            <a:srgbClr val="0C1B2C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920240"/>
            <a:ext cx="94183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600" b="1">
                <a:solidFill>
                  <a:srgbClr val="E4ECF5"/>
                </a:solidFill>
                <a:latin typeface="Arial"/>
              </a:rPr>
              <a:t>这套系统的优势不是承诺永远赚钱。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761488"/>
            <a:ext cx="905256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100" b="0">
                <a:solidFill>
                  <a:srgbClr val="48BBDC"/>
                </a:solidFill>
                <a:latin typeface="Arial"/>
              </a:rPr>
              <a:t>它真正做的是: 在数据、回测、搜索、入册、监控和展示层, 持续阻止自己把伪 alpha 当成真 alpha。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3434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45262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可信数据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20670" y="453542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66974" y="43434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40126" y="45262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统一裁判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4724" y="453542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1028" y="43434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04180" y="45262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诚实试错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48779" y="453542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5083" y="43434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8235" y="45262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可追溯台账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2833" y="4535424"/>
            <a:ext cx="128016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600" b="1">
                <a:solidFill>
                  <a:srgbClr val="48BBDC"/>
                </a:solidFill>
                <a:latin typeface="Arial"/>
              </a:rPr>
              <a:t>&gt;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59137" y="4343400"/>
            <a:ext cx="2099462" cy="658368"/>
          </a:xfrm>
          <a:prstGeom prst="roundRect">
            <a:avLst/>
          </a:prstGeom>
          <a:solidFill>
            <a:srgbClr val="0E2238"/>
          </a:solidFill>
          <a:ln w="12700">
            <a:solidFill>
              <a:srgbClr val="1F3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32289" y="4526280"/>
            <a:ext cx="1953158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200" b="1">
                <a:solidFill>
                  <a:srgbClr val="E4ECF5"/>
                </a:solidFill>
                <a:latin typeface="Arial"/>
              </a:rPr>
              <a:t>fail-closed 交易边界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6510528"/>
            <a:ext cx="41148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50" b="0">
                <a:solidFill>
                  <a:srgbClr val="9AAABE"/>
                </a:solidFill>
                <a:latin typeface="Arial"/>
              </a:rPr>
              <a:t>Quant Research OS / System Explanation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50292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9AAAB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